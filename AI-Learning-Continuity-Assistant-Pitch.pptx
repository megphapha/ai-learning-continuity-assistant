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 sec]</a:t>
            </a:r>
          </a:p>
          <a:p>
            <a:r>
              <a:t>"Good morning. I'm Margaret, and this is the AI Learning Continuity Assistant — learning that survives disruption.</a:t>
            </a:r>
          </a:p>
          <a:p/>
          <a:p>
            <a:r>
              <a:t>We built a tutor for the 5% of the world's children that edtech forgot: the ones living through conflict. Let me show you why, and what we built."</a:t>
            </a:r>
          </a:p>
          <a:p/>
          <a:p>
            <a:r>
              <a:t>(Timing cue: don't linger — the problem slide carries the weight.)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sec]</a:t>
            </a:r>
          </a:p>
          <a:p>
            <a:r>
              <a:t>"We didn't start this project with an app in mind — we started with data. During this bootcamp we built the EduDisruption Index: 63 percent of tracked schools in Mali are closed. In Tombouctou cercle, that's every single school. Ménaka lost 80 percent, with over a thousand fatalities recorded.</a:t>
            </a:r>
          </a:p>
          <a:p/>
          <a:p>
            <a:r>
              <a:t>Five of Mali's fifty cercles rank Critical. These are real children — and the few teachers still there are cut off from their students.</a:t>
            </a:r>
          </a:p>
          <a:p/>
          <a:p>
            <a:r>
              <a:t>The question that drove us: when the school is gone, what still fits in a child's backpack? The answer is a phone — even a cheap one, even offline. That's where we built."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sec]</a:t>
            </a:r>
          </a:p>
          <a:p>
            <a:r>
              <a:t>"Our solution is a bilingual web platform with two spaces.</a:t>
            </a:r>
          </a:p>
          <a:p/>
          <a:p>
            <a:r>
              <a:t>For students: an AI tutor that answers from the curriculum their teacher approved — and shows the source of every answer on screen. When the tutor can't verify an answer, it says so honestly. Practice questions get graded — students earn XP and levels, which keeps them coming back.</a:t>
            </a:r>
          </a:p>
          <a:p/>
          <a:p>
            <a:r>
              <a:t>For teachers: they control the curriculum. They approve documents, set assignments, review student work.</a:t>
            </a:r>
          </a:p>
          <a:p/>
          <a:p>
            <a:r>
              <a:t>And everything is built offline-first: light, fast, and able to fall back to a fully local AI when the network is gone.</a:t>
            </a:r>
          </a:p>
          <a:p/>
          <a:p>
            <a:r>
              <a:t>Now — the part I know you care about most: the AI."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 sec — the heaviest slide; judges score this explicitly]</a:t>
            </a:r>
          </a:p>
          <a:p>
            <a:r>
              <a:t>"Which Mistral models do we use, where do they run, and why?</a:t>
            </a:r>
          </a:p>
          <a:p/>
          <a:p>
            <a:r>
              <a:t>We run Ministral 3B — Mistral's edge model family — for questions outside the approved curriculum. When connectivity exists, it runs on Mistral's EU-hosted API. When it doesn't — and in Ménaka it often doesn't — Mistral 7B runs fully local on the device, via Ollama. Both are models Mistral built for exactly this: compute at the edge.</a:t>
            </a:r>
          </a:p>
          <a:p/>
          <a:p>
            <a:r>
              <a:t>Why Mistral? Two reasons. First, sovereignty: a student in Mopti shouldn't have their questions routed through a US provider. With Mistral, data stays in the EU — or on the device, in offline mode. Second, transparency — and this is the part I'm proudest of: every single answer in our interface is labelled with the model that produced it. Students and teachers always know where an answer came from. Verified answers cite their curriculum source; AI answers are visually distinct.</a:t>
            </a:r>
          </a:p>
          <a:p/>
          <a:p>
            <a:r>
              <a:t>You'll see that live in the demo — the model's name is printed on the answer."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 sec]</a:t>
            </a:r>
          </a:p>
          <a:p>
            <a:r>
              <a:t>"In the next three and a half minutes, everything I claimed happens on screen. Feel free to pick the questions yourself — the tutor doesn't have a script."</a:t>
            </a:r>
          </a:p>
          <a:p/>
          <a:p>
            <a:r>
              <a:t>(HAND OVER THE KEYBOARD-MOMENT: pause and offer the judge to choose a question. It shows confidence and matches the rubric's 'judges may test the input'.)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sec]</a:t>
            </a:r>
          </a:p>
          <a:p>
            <a:r>
              <a:t>"Who pays? Not students, not teachers. Our model is B2B2C: the institutions that already fund education in these regions — NGOs, education clusters, and ministries — pay an institutional subscription; students learn for free. Hardware and connectivity come donor-funded, as they already do today.</a:t>
            </a:r>
          </a:p>
          <a:p/>
          <a:p>
            <a:r>
              <a:t>Our pricing hypothesis — and it is a hypothesis, built to be tested — is two to four dollars per student per year, billed per school. For a 500-student NGO school, that's a rounding error in a education-budget; for us it's sustainable.</a:t>
            </a:r>
          </a:p>
          <a:p/>
          <a:p>
            <a:r>
              <a:t>And our first customer segment is right in front of us: the NGOs operating schools in the five critical cercles — same geography, same language. Next step after this pitch: two pilot conversations."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sec]</a:t>
            </a:r>
          </a:p>
          <a:p>
            <a:r>
              <a:t>"When we entered this bootcamp, we had a dataset and a question. Today you've seen a working product: bilingual, teacher-controlled, running Mistral models with every answer attributed.</a:t>
            </a:r>
          </a:p>
          <a:p/>
          <a:p>
            <a:r>
              <a:t>One piece of feedback shaped the build more than anything: we were told 'don't hand students the answer before they've tried.' We rebuilt the tutor around guided attempts and grading — that feedback became our practice loop, and honestly, our favourite feature."</a:t>
            </a:r>
          </a:p>
          <a:p/>
          <a:p>
            <a:r>
              <a:t>(Deliver the last line while clicking to the close.)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[final 10 sec]</a:t>
            </a:r>
          </a:p>
          <a:p>
            <a:r>
              <a:t>"Learning doesn't have to stop when school does. Thank you — and the tutor is live right now, if anyone wants to try it."</a:t>
            </a:r>
          </a:p>
          <a:p/>
          <a:p>
            <a:r>
              <a:t>Then STOP TALKING. Leave the demo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venir Next"/>
              </a:rPr>
              <a:t>AI Learning Continuity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BFDBFE"/>
                </a:solidFill>
                <a:latin typeface="Avenir Next"/>
              </a:rPr>
              <a:t>Learning that survives disruption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3C5FD"/>
                </a:solidFill>
                <a:latin typeface="Avenir Next"/>
              </a:rPr>
              <a:t>A bilingual, offline-first AI tutor for students in conflict-affected communities — starting with Mali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4910328" y="5852160"/>
            <a:ext cx="2377440" cy="38404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Mistral AI Bootcamp — Final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2377440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venir Next"/>
              </a:rPr>
              <a:t>1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Avenir Next"/>
              </a:rPr>
              <a:t>In Mali's conflict zones, school isn't paused — it's gone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2606040" cy="1920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B45309"/>
                </a:solidFill>
                <a:latin typeface="Avenir Next"/>
              </a:rPr>
              <a:t>63%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0040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Avenir Next"/>
              </a:rPr>
              <a:t>of tracked schools in Mali are closed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194560"/>
            <a:ext cx="2606040" cy="1920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42316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B45309"/>
                </a:solidFill>
                <a:latin typeface="Avenir Next"/>
              </a:rPr>
              <a:t>11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20040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Avenir Next"/>
              </a:rPr>
              <a:t>schools closed in Tombouctou cercle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2606040" cy="1920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42316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B45309"/>
                </a:solidFill>
                <a:latin typeface="Avenir Next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0040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Avenir Next"/>
              </a:rPr>
              <a:t>closed in Ménaka — with 1,039 fatalities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194560"/>
            <a:ext cx="2606040" cy="1920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42316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B45309"/>
                </a:solidFill>
                <a:latin typeface="Avenir Next"/>
              </a:rPr>
              <a:t>5 of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20040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Avenir Next"/>
              </a:rPr>
              <a:t>cercles rank CRITICAL on our EduDisruption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venir Next"/>
              </a:rPr>
              <a:t>Source: our own EduDisruption Index — built during this bootcamp from OCHA school registries, ACLED conflict data, and population maps.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Avenir Next"/>
              </a:rPr>
              <a:t>When schools close, learning stops for years — and students who fall behind rarely catch up. Teachers who remain have no way to reach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237744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venir Next"/>
              </a:rPr>
              <a:t>2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Avenir Next"/>
              </a:rPr>
              <a:t>A teacher-approved AI tutor that runs offline, in French and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venir Next"/>
              </a:rPr>
              <a:t>🎯  Grounded tutoring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121408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venir Next"/>
              </a:rPr>
              <a:t>Answers come from curriculum documents the teacher approved — with the source cited on screen. Unverified answers are labelled, never hidden.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72968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venir Next"/>
              </a:rPr>
              <a:t>✏️  Practice with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145536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venir Next"/>
              </a:rPr>
              <a:t>The tutor poses questions, guides attempts, and grades answers — students earn XP, levels and streaks as they learn.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9709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venir Next"/>
              </a:rPr>
              <a:t>🧑‍🏫  Teacher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169663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venir Next"/>
              </a:rPr>
              <a:t>Upload, approve and reject documents; set assignments and daily targets; review student submissions with feedback and grades.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21224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venir Next"/>
              </a:rPr>
              <a:t>📶  Offline-first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193792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venir Next"/>
              </a:rPr>
              <a:t>System fonts, no heavy assets, local AI fallback — built for the low-end devices and weak connectivity of the communities we serve.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3108960" cy="3840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venir Next"/>
              </a:rPr>
              <a:t>3 — AI ARCHITECTURE (MISTRAL)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Avenir Next"/>
              </a:rPr>
              <a:t>Mistral models, European infrastructure, data that stays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512064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Avenir Next"/>
              </a:rPr>
              <a:t>Which Mistral models, and 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754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Ministral 3B — Mistral's edge-model family — via Mistral's EU-hosted API when connectivity exists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Mistral 7B runs fully local (Ollama) for offline schools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Small enough for low-end devices; strong enough for Grade 3 tutoring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148840"/>
            <a:ext cx="512064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Avenir Next"/>
              </a:rPr>
              <a:t>Why, and how we prove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754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Sovereignty: student data never leaves the EU — or the device in offline mode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Every answer is labelled on screen: 'Answered by Mistral Ministral 3B (EU)'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Verified curriculum answers cite their source; AI answers are visually distinct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Avenir Next"/>
              </a:rPr>
              <a:t>You will see the model's name on every answer in the live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venir Next"/>
              </a:rPr>
              <a:t>Live demo — what you're about to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FDBFE"/>
                </a:solidFill>
                <a:latin typeface="Avenir Next"/>
              </a:rPr>
              <a:t>1 — Student picks a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54203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FDBFE"/>
                </a:solidFill>
                <a:latin typeface="Avenir Next"/>
              </a:rPr>
              <a:t>2 — Asks: gets a VERIFIED answer with its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3255264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FDBFE"/>
                </a:solidFill>
                <a:latin typeface="Avenir Next"/>
              </a:rPr>
              <a:t>3 — Practice question → graded attempt → XP + confetti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9684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FDBFE"/>
                </a:solidFill>
                <a:latin typeface="Avenir Next"/>
              </a:rPr>
              <a:t>4 — Off-curriculum question → Mistral answers (labelled)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681728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FDBFE"/>
                </a:solidFill>
                <a:latin typeface="Avenir Next"/>
              </a:rPr>
              <a:t>5 — One click: the whole app is in French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539496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FDBFE"/>
                </a:solidFill>
                <a:latin typeface="Avenir Next"/>
              </a:rPr>
              <a:t>6 — Teacher side: assignments, targets,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237744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venir Next"/>
              </a:rPr>
              <a:t>4 —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Avenir Next"/>
              </a:rPr>
              <a:t>B2B2C: institutions pay, students learn free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512064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venir Next"/>
              </a:rPr>
              <a:t>Who pays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754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NGOs and education clusters running schools in critical cercles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Ministries / district education offices (regional deployment)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Donor-funded: hardware + subscription sponsored per school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Students and teachers never pay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148840"/>
            <a:ext cx="512064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venir Next"/>
              </a:rPr>
              <a:t>Pricing hypothesis (to be tested)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754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Institutional subscription: ~$2–4 per student / year, billed per school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Sponsored device kits for offline-first classrooms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First customer segment: NGO-run schools in the 5 critical cercles — we already share geography and language with them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Next step: 2 pilot conversations with NGOs operating in Gao &amp; Tombouctou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2834640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venir Next"/>
              </a:rPr>
              <a:t>5 — BOOTCAMP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Avenir Next"/>
              </a:rPr>
              <a:t>From a dataset to a working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493776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Avenir Next"/>
              </a:rPr>
              <a:t>Where we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Idea-stage: a disruption index, no product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No AI, no frontend, no users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A question: where do interventions matter most?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194560"/>
            <a:ext cx="493776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Avenir Next"/>
              </a:rPr>
              <a:t>What we're demoing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8892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Bilingual (EN/FR) student + teacher platform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Mistral-first AI with visible model attribution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Practice grading, XP, assignments workflow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Avenir Next"/>
              </a:rPr>
              <a:t>•  Offline-first, self-healing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4155"/>
                </a:solidFill>
                <a:latin typeface="Avenir Next"/>
              </a:rPr>
              <a:t>The feedback that changed us: 'don't give the answer before the student tries.'  →  We rebuilt the tutor to guide attempts first, then grade. That single change became our practice-and-XP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venir Next"/>
              </a:rPr>
              <a:t>Learning doesn't have to stop when school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3C5FD"/>
                </a:solidFill>
                <a:latin typeface="Avenir Next"/>
              </a:rPr>
              <a:t>AI Learning Continuity Assistant — for conflict-affected and underserved communities.</a:t>
            </a:r>
          </a:p>
          <a:p>
            <a:pPr algn="ctr"/>
            <a:r>
              <a:rPr sz="1800" b="0">
                <a:solidFill>
                  <a:srgbClr val="93C5FD"/>
                </a:solidFill>
                <a:latin typeface="Avenir Next"/>
              </a:rPr>
              <a:t>Mali &amp; beyond.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FDBFE"/>
                </a:solidFill>
                <a:latin typeface="Avenir Next"/>
              </a:rPr>
              <a:t>Thank you — questions welcome. The tutor is live right now: ask it anything.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